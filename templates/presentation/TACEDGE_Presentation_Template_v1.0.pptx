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2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s/png/tacedge-contour-dark-1920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4023360"/>
            <a:ext cx="12191695" cy="2834640"/>
          </a:xfrm>
          <a:prstGeom prst="rect">
            <a:avLst/>
          </a:prstGeom>
        </p:spPr>
      </p:pic>
      <p:pic>
        <p:nvPicPr>
          <p:cNvPr id="3" name="Image 1" descr="assets/logos/png/tacedge-lockup-cream-2400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377440" cy="4663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2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s/png/tacedge-contour-dark-1920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4023360"/>
            <a:ext cx="12191695" cy="2834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2B59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TACEDGE · [Presentation title]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2B59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5E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Shared Clarity.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B59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 ground-engineering delivery.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2B5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[Presentation title] · [Audience] · [Date]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s/png/tacedge-brandmark-sage-1024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2148840"/>
            <a:ext cx="1005840" cy="9235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429000"/>
            <a:ext cx="94484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F5E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[Presentation title]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42062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B59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[Subtitle or date]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2B59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What we will cover.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D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96596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 problem we keep seeing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32888"/>
            <a:ext cx="10911535" cy="0"/>
          </a:xfrm>
          <a:prstGeom prst="line">
            <a:avLst/>
          </a:prstGeom>
          <a:noFill/>
          <a:ln w="9525">
            <a:solidFill>
              <a:srgbClr val="E7E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15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D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715768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How TACEDGE structures the 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82696"/>
            <a:ext cx="10911535" cy="0"/>
          </a:xfrm>
          <a:prstGeom prst="line">
            <a:avLst/>
          </a:prstGeom>
          <a:noFill/>
          <a:ln w="9525">
            <a:solidFill>
              <a:srgbClr val="E7E2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655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D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46557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What a pilot looks like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10911535" cy="0"/>
          </a:xfrm>
          <a:prstGeom prst="line">
            <a:avLst/>
          </a:prstGeom>
          <a:noFill/>
          <a:ln w="9525">
            <a:solidFill>
              <a:srgbClr val="E7E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153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D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215384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Evidence from live 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782312"/>
            <a:ext cx="10911535" cy="0"/>
          </a:xfrm>
          <a:prstGeom prst="line">
            <a:avLst/>
          </a:prstGeom>
          <a:noFill/>
          <a:ln w="9525">
            <a:solidFill>
              <a:srgbClr val="E7E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65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D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965192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Next steps and decision point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10911535" cy="0"/>
          </a:xfrm>
          <a:prstGeom prst="line">
            <a:avLst/>
          </a:prstGeom>
          <a:noFill/>
          <a:ln w="9525">
            <a:solidFill>
              <a:srgbClr val="E7E2D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B2B5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5E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2B59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One clear message per slide.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Lead with the outcome. Support it with two or three short sentences at most. If the slide needs a paragraph, it needs a document instead.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Two-column content.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Before TACEDGE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22716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Field records arrive fragmented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Hours of data entry and chasing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Reports rebuilt from fragments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24448" y="1874520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With TACEDGE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448" y="2331720"/>
            <a:ext cx="522716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Captured once at the workface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Live picture for the PM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Confirmed report released to the engineer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Three supporting points.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9333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2936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Field usability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93613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Simple crew controls, offline-first capture, large touch targets.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99178" y="1920240"/>
            <a:ext cx="339333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7778" y="2194560"/>
            <a:ext cx="2936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Evidence integrity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7778" y="2788920"/>
            <a:ext cx="293613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Photos, tests and measurements attach to the work item as it happens.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58277" y="1920240"/>
            <a:ext cx="339333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6877" y="2194560"/>
            <a:ext cx="2936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QA visibility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6877" y="2788920"/>
            <a:ext cx="293613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Exceptions surface for judgement. Everything else flows through.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Full-width image.</a:t>
            </a:r>
            <a:endParaRPr lang="en-US" sz="2800" dirty="0"/>
          </a:p>
        </p:txBody>
      </p:sp>
      <p:pic>
        <p:nvPicPr>
          <p:cNvPr id="4" name="Image 0" descr="scripts/template-src/img-photo-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10911535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6A5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Caption: place, activity, year. [Replace with your image]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Image and text.</a:t>
            </a:r>
            <a:endParaRPr lang="en-US" sz="2800" dirty="0"/>
          </a:p>
        </p:txBody>
      </p:sp>
      <p:pic>
        <p:nvPicPr>
          <p:cNvPr id="4" name="Image 0" descr="scripts/template-src/img-photo-config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3949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920240"/>
            <a:ext cx="50593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one thing about the image.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92240" y="2743200"/>
            <a:ext cx="505937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 the project up once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Capture the work where it happens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Give the engineer a confirmed report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Real screens only.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94560" y="1783080"/>
            <a:ext cx="7772400" cy="4251960"/>
          </a:xfrm>
          <a:prstGeom prst="roundRect">
            <a:avLst>
              <a:gd name="adj" fmla="val 2151"/>
            </a:avLst>
          </a:prstGeom>
          <a:solidFill>
            <a:srgbClr val="262B25"/>
          </a:solidFill>
          <a:ln/>
        </p:spPr>
      </p:sp>
      <p:pic>
        <p:nvPicPr>
          <p:cNvPr id="5" name="Image 0" descr="scripts/template-src/img-qa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993392"/>
            <a:ext cx="7370064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61447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A5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TACEDGE QA queue · [replace with the screen relevant to your story]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Field data becomes project overhead.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2716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476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E3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CURRENT WAY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699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Paper, forms, apps, calls and photos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PMs compile instead of assuring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Engineers receive reconstructed reports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4448" y="1920240"/>
            <a:ext cx="5227168" cy="3108960"/>
          </a:xfrm>
          <a:prstGeom prst="roundRect">
            <a:avLst>
              <a:gd name="adj" fmla="val 2353"/>
            </a:avLst>
          </a:prstGeom>
          <a:solidFill>
            <a:srgbClr val="E6EBD9"/>
          </a:solidFill>
          <a:ln w="9525">
            <a:solidFill>
              <a:srgbClr val="AEB8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2148840"/>
            <a:ext cx="476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124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TACEDGE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53048" y="2514600"/>
            <a:ext cx="47699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One shared system from setup to release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Live, structured field data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 confirmed report the engineer can trust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Configure. Capture. Confirm.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9333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6EBD9"/>
          </a:solidFill>
          <a:ln w="12700">
            <a:solidFill>
              <a:srgbClr val="1A32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304288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9361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 the project up once.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51706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D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99178" y="2011680"/>
            <a:ext cx="339333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7778" y="2286000"/>
            <a:ext cx="384048" cy="384048"/>
          </a:xfrm>
          <a:prstGeom prst="ellipse">
            <a:avLst/>
          </a:prstGeom>
          <a:solidFill>
            <a:srgbClr val="E6EBD9"/>
          </a:solidFill>
          <a:ln w="12700">
            <a:solidFill>
              <a:srgbClr val="1A32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777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30698" y="2304288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Capture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7778" y="2880360"/>
            <a:ext cx="29361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Record the work where it happens.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0805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D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58277" y="2011680"/>
            <a:ext cx="339333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6877" y="2286000"/>
            <a:ext cx="384048" cy="384048"/>
          </a:xfrm>
          <a:prstGeom prst="ellipse">
            <a:avLst/>
          </a:prstGeom>
          <a:solidFill>
            <a:srgbClr val="E6EBD9"/>
          </a:solidFill>
          <a:ln w="12700">
            <a:solidFill>
              <a:srgbClr val="1A32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6877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89797" y="2304288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Confirm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86877" y="2880360"/>
            <a:ext cx="29361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Verify and release.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6A5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Release is the outcome of Confirm. It is never a fourth stage.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Process flow.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2384984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AEB8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2384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Configured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70784" y="30358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D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82264" y="2926080"/>
            <a:ext cx="2384984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AEB8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2264" y="2926080"/>
            <a:ext cx="2384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Captured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12968" y="30358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D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4448" y="2926080"/>
            <a:ext cx="2384984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AEB8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4448" y="2926080"/>
            <a:ext cx="2384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55151" y="30358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D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66631" y="2926080"/>
            <a:ext cx="2384984" cy="685800"/>
          </a:xfrm>
          <a:prstGeom prst="roundRect">
            <a:avLst>
              <a:gd name="adj" fmla="val 10667"/>
            </a:avLst>
          </a:prstGeom>
          <a:solidFill>
            <a:srgbClr val="112411"/>
          </a:solidFill>
          <a:ln w="12700">
            <a:solidFill>
              <a:srgbClr val="1124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6631" y="2926080"/>
            <a:ext cx="2384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5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6A5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One arrow style. Single-word stage labels. Forest fill marks the terminal-positive stage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Key numbers.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9333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[12]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records confirmed per shift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99178" y="2011680"/>
            <a:ext cx="339333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7778" y="228600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[0]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27778" y="320040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re-keying steps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58277" y="2011680"/>
            <a:ext cx="339333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7E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6877" y="228600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[15 min]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86877" y="320040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from capture to PM visibility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Numbers must be evidenced. Source note: [source, date]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Comparison.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67048"/>
                <a:gridCol w="426704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Current way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With TACEDGE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Capture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Paper and re-keying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Once, at the workface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Visibility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End of week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Live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Report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Rebuilt by the PM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Released from confirmed records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[VOICE OF THE CUSTOMER]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0" cy="2011680"/>
          </a:xfrm>
          <a:prstGeom prst="line">
            <a:avLst/>
          </a:prstGeom>
          <a:noFill/>
          <a:ln w="38100">
            <a:solidFill>
              <a:srgbClr val="B2B5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945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“[Short, verifiable quote from a named role. Two sentences at most.]”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[Name or role] · [Organisation] · [Date]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[SECTION]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Timeline.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911535" cy="0"/>
          </a:xfrm>
          <a:prstGeom prst="line">
            <a:avLst/>
          </a:prstGeom>
          <a:noFill/>
          <a:ln w="12700">
            <a:solidFill>
              <a:srgbClr val="CBD2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3227832"/>
            <a:ext cx="128016" cy="128016"/>
          </a:xfrm>
          <a:prstGeom prst="ellipse">
            <a:avLst/>
          </a:prstGeom>
          <a:solidFill>
            <a:srgbClr val="6E7D5C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Configure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23087" y="3227832"/>
            <a:ext cx="128016" cy="128016"/>
          </a:xfrm>
          <a:prstGeom prst="ellipse">
            <a:avLst/>
          </a:prstGeom>
          <a:solidFill>
            <a:srgbClr val="6E7D5C"/>
          </a:solidFill>
          <a:ln/>
        </p:spPr>
      </p:sp>
      <p:sp>
        <p:nvSpPr>
          <p:cNvPr id="9" name="Text 7"/>
          <p:cNvSpPr/>
          <p:nvPr/>
        </p:nvSpPr>
        <p:spPr>
          <a:xfrm>
            <a:off x="3364135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1–4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81255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Capture on live work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04341" y="3227832"/>
            <a:ext cx="128016" cy="128016"/>
          </a:xfrm>
          <a:prstGeom prst="ellipse">
            <a:avLst/>
          </a:prstGeom>
          <a:solidFill>
            <a:srgbClr val="6E7D5C"/>
          </a:solidFill>
          <a:ln/>
        </p:spPr>
      </p:sp>
      <p:sp>
        <p:nvSpPr>
          <p:cNvPr id="12" name="Text 10"/>
          <p:cNvSpPr/>
          <p:nvPr/>
        </p:nvSpPr>
        <p:spPr>
          <a:xfrm>
            <a:off x="6545389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62509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 evidence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485596" y="3227832"/>
            <a:ext cx="128016" cy="128016"/>
          </a:xfrm>
          <a:prstGeom prst="ellipse">
            <a:avLst/>
          </a:prstGeom>
          <a:solidFill>
            <a:srgbClr val="112411"/>
          </a:solidFill>
          <a:ln/>
        </p:spPr>
      </p:sp>
      <p:sp>
        <p:nvSpPr>
          <p:cNvPr id="15" name="Text 13"/>
          <p:cNvSpPr/>
          <p:nvPr/>
        </p:nvSpPr>
        <p:spPr>
          <a:xfrm>
            <a:off x="9726644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543764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Decision point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[Project name]: what the evidence showed.</a:t>
            </a:r>
            <a:endParaRPr lang="en-US" sz="2800" dirty="0"/>
          </a:p>
        </p:txBody>
      </p:sp>
      <p:pic>
        <p:nvPicPr>
          <p:cNvPr id="4" name="Image 0" descr="scripts/template-src/img-field-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74520"/>
            <a:ext cx="274320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0" y="187452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840480" y="2167128"/>
            <a:ext cx="77111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[Work type, location, crew size.]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324612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 DID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840480" y="3538728"/>
            <a:ext cx="77111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[Configured the workflow, captured live work, confirmed the record.]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0" y="461772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40480" y="4910328"/>
            <a:ext cx="77111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25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[Evidenced outcome with numbers where possible.]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A small validation, not a broad rollout.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E6EBD9"/>
          </a:solidFill>
          <a:ln w="12700">
            <a:solidFill>
              <a:srgbClr val="1A32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299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Choose one workflow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E6EBD9"/>
          </a:solidFill>
          <a:ln w="12700">
            <a:solidFill>
              <a:srgbClr val="1A32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8986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Configure it together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E6EBD9"/>
          </a:solidFill>
          <a:ln w="12700">
            <a:solidFill>
              <a:srgbClr val="1A32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7673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Validate it on live work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384048" cy="384048"/>
          </a:xfrm>
          <a:prstGeom prst="ellipse">
            <a:avLst/>
          </a:prstGeom>
          <a:solidFill>
            <a:srgbClr val="E6EBD9"/>
          </a:solidFill>
          <a:ln w="12700">
            <a:solidFill>
              <a:srgbClr val="1A32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411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636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A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Decide from evidence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5E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See TACEDGE on your project.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B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Bring a current project or reporting problem. In 15 minutes, we'll show how TACEDGE would structure the workflow.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669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spc="100" kern="0" dirty="0">
                <a:solidFill>
                  <a:srgbClr val="B2B5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[Name] · [Role] · [Phone]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spc="100" kern="0" dirty="0">
                <a:solidFill>
                  <a:srgbClr val="B2B5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info@tacedge.co.nz · tacedge.co.nz · New Zealand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B2B5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5E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[Supporting detail]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2B594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6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A1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[Supporting detail].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25135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Item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Detail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Source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[Item]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[Detail]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[Source, date]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[Item]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[Detail]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[Source, date]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[Item]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[Detail]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25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[Source, date]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206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A5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Appendix slides carry the detail so the main deck stays light.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37376"/>
            <a:ext cx="4572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6A5A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TACEDGE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TACEDGE Presentation Template</dc:title>
  <dc:subject>TACEDGE presentation template v1.0</dc:subject>
  <dc:creator>TACEDGE Limited</dc:creator>
  <cp:lastModifiedBy>TACEDGE Limited</cp:lastModifiedBy>
  <cp:revision>1</cp:revision>
  <dcterms:created xsi:type="dcterms:W3CDTF">2026-07-15T02:22:26Z</dcterms:created>
  <dcterms:modified xsi:type="dcterms:W3CDTF">2026-07-15T02:22:26Z</dcterms:modified>
</cp:coreProperties>
</file>